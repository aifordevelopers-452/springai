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244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69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8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819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9432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14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0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87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84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2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11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9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First Chat Application with OpenAI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Aptos"/>
              </a:defRPr>
            </a:pPr>
            <a:r>
              <a:t>Build a simple Spring Boot REST application using Spring AI and OpenAI.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  <a:latin typeface="Aptos"/>
              </a:defRPr>
            </a:pPr>
            <a:r>
              <a:t>Send a user message → ChatClient → OpenAI → return the AI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ptos"/>
              </a:defRPr>
            </a:pPr>
            <a:r>
              <a:t>Java 17+  •  Spring Boot  •  Spring AI  •  OpenAI API  •  Maven  •  IntelliJ IDEA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Create the Spring Boot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442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Go to Spring Initializr and create a Maven Spring Boot project.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Add Spring Web.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Add Spring AI OpenAI Spring Boot Starter.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Use a Spring AI version compatible with your Spring Boot version.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• Create the main application class and start it once to verify the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Configure OpenAI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ptos"/>
              </a:defRPr>
            </a:pPr>
            <a:r>
              <a:t>Set the API key as an environment variable: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  <a:latin typeface="Consolas"/>
              </a:defRPr>
            </a:pPr>
            <a:r>
              <a:t>OPENAI_API_KEY=your-openai-api-key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0AD47"/>
                </a:solidFill>
                <a:latin typeface="Aptos"/>
              </a:defRPr>
            </a:pPr>
            <a:r>
              <a:t>application.properties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Consolas"/>
              </a:defRPr>
            </a:pPr>
            <a:r>
              <a:t>spring.ai.openai.api-key=${OPENAI_API_KEY}</a:t>
            </a:r>
            <a:br/>
            <a:r>
              <a:t>spring.ai.openai.chat.options.model=gpt-4o-mini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ptos"/>
              </a:defRPr>
            </a:pPr>
            <a:r>
              <a:t>Keep the API key out of source code and Git repositories.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Create the Chat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  <a:latin typeface="Aptos"/>
              </a:defRPr>
            </a:pPr>
            <a:r>
              <a:t>ChatClient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0058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onsolas"/>
              </a:defRPr>
            </a:pPr>
            <a:r>
              <a:t>private final ChatClient chatClient;</a:t>
            </a:r>
            <a:br/>
            <a:br/>
            <a:r>
              <a:t>public ChatController(ChatClient.Builder builder) {</a:t>
            </a:r>
            <a:br/>
            <a:r>
              <a:t>    this.chatClient = builder.build();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0AD47"/>
                </a:solidFill>
                <a:latin typeface="Aptos"/>
              </a:defRPr>
            </a:pPr>
            <a:r>
              <a:t>REST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onsolas"/>
              </a:defRPr>
            </a:pPr>
            <a:r>
              <a:t>@GetMapping("/chat")</a:t>
            </a:r>
            <a:br/>
            <a:r>
              <a:t>public String chat(@RequestParam String message) {</a:t>
            </a:r>
            <a:br/>
            <a:r>
              <a:t>    return chatClient.prompt()</a:t>
            </a:r>
            <a:br/>
            <a:r>
              <a:t>        .user(message).call().content();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Test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099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ptos"/>
              </a:defRPr>
            </a:pPr>
            <a:r>
              <a:t>Start the Spring Boot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ptos"/>
              </a:defRPr>
            </a:pPr>
            <a:r>
              <a:t>Call the endpoint from a browser, Postman, or curl: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onsolas"/>
              </a:defRPr>
            </a:pPr>
            <a:r>
              <a:t>GET http://localhost:8080/chat?message=What%20is%20Spring%20AI?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0AD4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04487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  <a:latin typeface="Aptos"/>
              </a:defRPr>
            </a:pPr>
            <a:r>
              <a:t>ChatClient sends the message to OpenAI and the generated answer is returned as the HTTP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What Is Happening Behind the Scenes?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User sends a question to /chat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5856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Spring MVC receives the HTTP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16935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16935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ChatClient creates the prompt and calls the configured ChatModel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3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75303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Spring AI's OpenAI integration sends the request to 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33671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33671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OpenAI returns the generated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892039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00000"/>
                </a:solidFill>
                <a:latin typeface="Aptos"/>
              </a:defRPr>
            </a:pPr>
            <a:r>
              <a:t>ChatClient extracts the response content and returns it to the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55555"/>
                </a:solidFill>
                <a:latin typeface="Aptos"/>
              </a:defRPr>
            </a:pPr>
            <a:r>
              <a:t>Key idea: ChatClient provides a simple API for interacting with chat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Complete Minimal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application.properties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  <a:latin typeface="Consolas"/>
              </a:defRPr>
            </a:pPr>
            <a:r>
              <a:rPr dirty="0" err="1"/>
              <a:t>spring.ai.openai.api</a:t>
            </a:r>
            <a:r>
              <a:rPr dirty="0"/>
              <a:t>-key=${OPENAI_API_KEY}</a:t>
            </a:r>
            <a:br>
              <a:rPr dirty="0"/>
            </a:br>
            <a:r>
              <a:rPr dirty="0" err="1"/>
              <a:t>spring.ai.openai.chat.options.model</a:t>
            </a:r>
            <a:r>
              <a:rPr dirty="0"/>
              <a:t>=gpt-4o-mini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ChatController.java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105156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Consolas"/>
              </a:defRPr>
            </a:pPr>
            <a:r>
              <a:rPr dirty="0"/>
              <a:t>@RestController</a:t>
            </a:r>
            <a:br>
              <a:rPr dirty="0"/>
            </a:br>
            <a:r>
              <a:rPr dirty="0"/>
              <a:t>public class </a:t>
            </a:r>
            <a:r>
              <a:rPr dirty="0" err="1"/>
              <a:t>ChatController</a:t>
            </a:r>
            <a:r>
              <a:rPr dirty="0"/>
              <a:t> {</a:t>
            </a:r>
            <a:br>
              <a:rPr dirty="0"/>
            </a:br>
            <a:r>
              <a:rPr dirty="0"/>
              <a:t>  private final </a:t>
            </a:r>
            <a:r>
              <a:rPr dirty="0" err="1"/>
              <a:t>ChatClient</a:t>
            </a:r>
            <a:r>
              <a:rPr dirty="0"/>
              <a:t> </a:t>
            </a:r>
            <a:r>
              <a:rPr dirty="0" err="1"/>
              <a:t>chatClient</a:t>
            </a:r>
            <a:r>
              <a:rPr dirty="0"/>
              <a:t>;</a:t>
            </a:r>
            <a:br>
              <a:rPr dirty="0"/>
            </a:br>
            <a:r>
              <a:rPr dirty="0"/>
              <a:t>  public </a:t>
            </a:r>
            <a:r>
              <a:rPr dirty="0" err="1"/>
              <a:t>ChatController</a:t>
            </a:r>
            <a:r>
              <a:rPr dirty="0"/>
              <a:t>(</a:t>
            </a:r>
            <a:r>
              <a:rPr dirty="0" err="1"/>
              <a:t>ChatClient.Builder</a:t>
            </a:r>
            <a:r>
              <a:rPr dirty="0"/>
              <a:t> builder) {</a:t>
            </a:r>
            <a:br>
              <a:rPr dirty="0"/>
            </a:br>
            <a:r>
              <a:rPr dirty="0"/>
              <a:t>    </a:t>
            </a:r>
            <a:r>
              <a:rPr dirty="0" err="1"/>
              <a:t>this.chatClient</a:t>
            </a:r>
            <a:r>
              <a:rPr dirty="0"/>
              <a:t> = </a:t>
            </a:r>
            <a:r>
              <a:rPr dirty="0" err="1"/>
              <a:t>builder.build</a:t>
            </a:r>
            <a:r>
              <a:rPr dirty="0"/>
              <a:t>();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  @GetMapping("/chat")</a:t>
            </a:r>
            <a:br>
              <a:rPr dirty="0"/>
            </a:br>
            <a:r>
              <a:rPr dirty="0"/>
              <a:t>  public String chat(@RequestParam String message) {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chatClient.prompt</a:t>
            </a:r>
            <a:r>
              <a:rPr dirty="0"/>
              <a:t>().user(message).call().content();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0AD47"/>
                </a:solidFill>
                <a:latin typeface="Aptos"/>
              </a:defRPr>
            </a:pPr>
            <a: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F1F1F"/>
                </a:solidFill>
                <a:latin typeface="Aptos"/>
              </a:defRPr>
            </a:pPr>
            <a:r>
              <a:t>Next: Build on This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13716"/>
          </a:xfrm>
          <a:prstGeom prst="rect">
            <a:avLst/>
          </a:prstGeom>
          <a:solidFill>
            <a:srgbClr val="D9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442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lang="en-IN" dirty="0"/>
              <a:t>• Explore </a:t>
            </a:r>
            <a:r>
              <a:rPr lang="en-IN" dirty="0" err="1"/>
              <a:t>ChatClient</a:t>
            </a:r>
            <a:r>
              <a:rPr lang="en-IN"/>
              <a:t> APIs </a:t>
            </a:r>
            <a:r>
              <a:rPr lang="en-IN" dirty="0"/>
              <a:t>and prompt templates.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lang="en-IN" dirty="0"/>
              <a:t>• Build app using </a:t>
            </a:r>
            <a:r>
              <a:rPr lang="en-IN" dirty="0" err="1"/>
              <a:t>ollama</a:t>
            </a:r>
            <a:endParaRPr lang="en-IN" dirty="0"/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Add system instructions to control assistant behavior.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Use POST requests with request/response DTOs.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Add chat memory for conversations.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Move to structured output, tool calling, embeddings and RAG.</a:t>
            </a:r>
          </a:p>
          <a:p>
            <a:pPr>
              <a:spcAft>
                <a:spcPts val="9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rPr dirty="0"/>
              <a:t>• Use this application as the starting point for more advanced Spring AI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</TotalTime>
  <Words>585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Ravinder Kumar</cp:lastModifiedBy>
  <cp:revision>3</cp:revision>
  <dcterms:created xsi:type="dcterms:W3CDTF">2013-01-27T09:14:16Z</dcterms:created>
  <dcterms:modified xsi:type="dcterms:W3CDTF">2026-08-08T08:19:19Z</dcterms:modified>
  <cp:category/>
</cp:coreProperties>
</file>