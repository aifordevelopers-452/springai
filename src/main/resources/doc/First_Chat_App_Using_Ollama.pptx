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90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62" d="100"/>
          <a:sy n="62" d="100"/>
        </p:scale>
        <p:origin x="804" y="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28403" y="945913"/>
            <a:ext cx="8637073" cy="2618554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28404" y="3564467"/>
            <a:ext cx="8637072" cy="1071095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127124" y="329307"/>
            <a:ext cx="5943668" cy="309201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924392" y="134930"/>
            <a:ext cx="811019" cy="503578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pic>
        <p:nvPicPr>
          <p:cNvPr id="16" name="Picture 15" descr="RedHashing.emf"/>
          <p:cNvPicPr>
            <a:picLocks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5" r="15828" b="36435"/>
          <a:stretch/>
        </p:blipFill>
        <p:spPr>
          <a:xfrm>
            <a:off x="1125460" y="643464"/>
            <a:ext cx="9610344" cy="15544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9324434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1200"/>
            </a:lvl1pPr>
          </a:lstStyle>
          <a:p>
            <a:fld id="{5BCAD085-E8A6-8845-BD4E-CB4CCA059FC4}" type="datetimeFigureOut">
              <a:rPr lang="en-US" smtClean="0"/>
              <a:t>8/9/2026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pic>
        <p:nvPicPr>
          <p:cNvPr id="24" name="Picture 23" descr="RedHashing.emf"/>
          <p:cNvPicPr>
            <a:picLocks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5" r="15828" b="36435"/>
          <a:stretch/>
        </p:blipFill>
        <p:spPr>
          <a:xfrm>
            <a:off x="1125460" y="643464"/>
            <a:ext cx="9610344" cy="15544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846968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9167" y="1756129"/>
            <a:ext cx="8619060" cy="2050065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1129166" y="3806195"/>
            <a:ext cx="8619060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pic>
        <p:nvPicPr>
          <p:cNvPr id="16" name="Picture 15" descr="RedHashing.emf"/>
          <p:cNvPicPr>
            <a:picLocks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5" r="15828" b="36435"/>
          <a:stretch/>
        </p:blipFill>
        <p:spPr>
          <a:xfrm>
            <a:off x="1125460" y="643464"/>
            <a:ext cx="9610344" cy="15544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259821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31052" y="958037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29166" y="2165621"/>
            <a:ext cx="4645152" cy="329385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606" y="2171769"/>
            <a:ext cx="4645152" cy="32870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pic>
        <p:nvPicPr>
          <p:cNvPr id="16" name="Picture 15" descr="RedHashing.emf"/>
          <p:cNvPicPr>
            <a:picLocks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5" r="15828" b="36435"/>
          <a:stretch/>
        </p:blipFill>
        <p:spPr>
          <a:xfrm>
            <a:off x="1125460" y="643464"/>
            <a:ext cx="9610344" cy="15544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0248195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9166" y="953336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29166" y="2169727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800" b="0" cap="none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29166" y="2974448"/>
            <a:ext cx="4645152" cy="24938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94337" y="2173181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800" b="0" cap="none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094337" y="2971669"/>
            <a:ext cx="4645152" cy="24871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pic>
        <p:nvPicPr>
          <p:cNvPr id="18" name="Picture 17" descr="RedHashing.emf"/>
          <p:cNvPicPr>
            <a:picLocks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5" r="15828" b="36435"/>
          <a:stretch/>
        </p:blipFill>
        <p:spPr>
          <a:xfrm>
            <a:off x="1125460" y="643464"/>
            <a:ext cx="9610344" cy="15544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7994326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pic>
        <p:nvPicPr>
          <p:cNvPr id="14" name="Picture 13" descr="RedHashing.emf"/>
          <p:cNvPicPr>
            <a:picLocks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5" r="15828" b="36435"/>
          <a:stretch/>
        </p:blipFill>
        <p:spPr>
          <a:xfrm>
            <a:off x="1125460" y="643464"/>
            <a:ext cx="9610344" cy="15544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0521435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93032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4291" y="952578"/>
            <a:ext cx="3275013" cy="2322176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23334" y="952578"/>
            <a:ext cx="6012470" cy="4505221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24291" y="3274754"/>
            <a:ext cx="3275013" cy="2178918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pic>
        <p:nvPicPr>
          <p:cNvPr id="16" name="Picture 15" descr="RedHashing.emf"/>
          <p:cNvPicPr>
            <a:picLocks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5" r="15828" b="36435"/>
          <a:stretch/>
        </p:blipFill>
        <p:spPr>
          <a:xfrm>
            <a:off x="1125460" y="643464"/>
            <a:ext cx="9610344" cy="15544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4458757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chemeClr val="tx1">
                    <a:lumMod val="85000"/>
                    <a:lumOff val="15000"/>
                  </a:schemeClr>
                </a:gs>
                <a:gs pos="100000">
                  <a:schemeClr val="tx1">
                    <a:lumMod val="95000"/>
                    <a:lumOff val="5000"/>
                  </a:schemeClr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14300" prst="artDeco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9124" y="1129513"/>
            <a:ext cx="5854872" cy="1924208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28247" y="3053721"/>
            <a:ext cx="5846486" cy="2096013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125300" y="5469856"/>
            <a:ext cx="5849605" cy="320123"/>
          </a:xfrm>
        </p:spPr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8/9/2026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25300" y="318640"/>
            <a:ext cx="4877818" cy="32093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176794" y="137408"/>
            <a:ext cx="811019" cy="503578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pic>
        <p:nvPicPr>
          <p:cNvPr id="22" name="Picture 21" descr="RedHashing.emf"/>
          <p:cNvPicPr>
            <a:picLocks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6" t="474" r="48549" b="36564"/>
          <a:stretch/>
        </p:blipFill>
        <p:spPr>
          <a:xfrm>
            <a:off x="1125460" y="643464"/>
            <a:ext cx="5879592" cy="15544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2668463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pic>
        <p:nvPicPr>
          <p:cNvPr id="15" name="Picture 14" descr="RedHashing.emf"/>
          <p:cNvPicPr>
            <a:picLocks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5" r="15828" b="36435"/>
          <a:stretch/>
        </p:blipFill>
        <p:spPr>
          <a:xfrm>
            <a:off x="1125460" y="643464"/>
            <a:ext cx="9610344" cy="15544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3127920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124709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30270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pic>
        <p:nvPicPr>
          <p:cNvPr id="17" name="Picture 16" descr="RedHashing.emf"/>
          <p:cNvPicPr>
            <a:picLocks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5" r="59215" b="36435"/>
          <a:stretch/>
        </p:blipFill>
        <p:spPr>
          <a:xfrm rot="5400000">
            <a:off x="8642279" y="3046916"/>
            <a:ext cx="4663440" cy="15544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2221138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>
          <a:xfrm>
            <a:off x="0" y="6119336"/>
            <a:ext cx="12192000" cy="742950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0" y="468769"/>
            <a:ext cx="12192000" cy="5647024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  <a:lumMod val="100000"/>
                </a:schemeClr>
              </a:gs>
              <a:gs pos="100000">
                <a:schemeClr val="bg2">
                  <a:lumMod val="95000"/>
                  <a:lumOff val="500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14" name="Straight Connector 13"/>
          <p:cNvCxnSpPr/>
          <p:nvPr/>
        </p:nvCxnSpPr>
        <p:spPr>
          <a:xfrm>
            <a:off x="0" y="6121269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30270" y="953324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30270" y="2171769"/>
            <a:ext cx="9603275" cy="32945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32830" y="330370"/>
            <a:ext cx="251539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30270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18076" y="137408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73923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01" r:id="rId1"/>
    <p:sldLayoutId id="2147483902" r:id="rId2"/>
    <p:sldLayoutId id="2147483903" r:id="rId3"/>
    <p:sldLayoutId id="2147483904" r:id="rId4"/>
    <p:sldLayoutId id="2147483905" r:id="rId5"/>
    <p:sldLayoutId id="2147483906" r:id="rId6"/>
    <p:sldLayoutId id="2147483907" r:id="rId7"/>
    <p:sldLayoutId id="2147483908" r:id="rId8"/>
    <p:sldLayoutId id="2147483909" r:id="rId9"/>
    <p:sldLayoutId id="2147483910" r:id="rId10"/>
    <p:sldLayoutId id="214748391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none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146304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70AD47"/>
                </a:solidFill>
                <a:latin typeface="Aptos"/>
              </a:defRPr>
            </a:pPr>
            <a:r>
              <a:t>Spring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F1F1F"/>
                </a:solidFill>
                <a:latin typeface="Aptos"/>
              </a:defRPr>
            </a:pPr>
            <a:r>
              <a:t>First Chat Application with Ollama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98448"/>
            <a:ext cx="11155680" cy="13716"/>
          </a:xfrm>
          <a:prstGeom prst="rect">
            <a:avLst/>
          </a:prstGeom>
          <a:solidFill>
            <a:srgbClr val="D9E2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109960" y="6419088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777777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645920"/>
            <a:ext cx="105156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333333"/>
                </a:solidFill>
                <a:latin typeface="Aptos"/>
              </a:defRPr>
            </a:pPr>
            <a:r>
              <a:rPr dirty="0"/>
              <a:t>Build a simple Spring Boot REST application using Spring AI and </a:t>
            </a:r>
            <a:r>
              <a:rPr dirty="0" err="1"/>
              <a:t>Ollama</a:t>
            </a:r>
            <a:r>
              <a:rPr dirty="0"/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514600"/>
            <a:ext cx="182880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70AD47"/>
                </a:solidFill>
                <a:latin typeface="Aptos"/>
              </a:defRPr>
            </a:pPr>
            <a:endParaRPr lang="en-IN" dirty="0"/>
          </a:p>
          <a:p>
            <a:pPr>
              <a:defRPr sz="1400" b="1">
                <a:solidFill>
                  <a:srgbClr val="70AD47"/>
                </a:solidFill>
                <a:latin typeface="Aptos"/>
              </a:defRPr>
            </a:pPr>
            <a:endParaRPr lang="en-IN" dirty="0"/>
          </a:p>
          <a:p>
            <a:pPr>
              <a:defRPr sz="1400" b="1">
                <a:solidFill>
                  <a:srgbClr val="70AD47"/>
                </a:solidFill>
                <a:latin typeface="Aptos"/>
              </a:defRPr>
            </a:pPr>
            <a:endParaRPr lang="en-IN" dirty="0"/>
          </a:p>
          <a:p>
            <a:pPr>
              <a:defRPr sz="1400" b="1">
                <a:solidFill>
                  <a:srgbClr val="70AD47"/>
                </a:solidFill>
                <a:latin typeface="Aptos"/>
              </a:defRPr>
            </a:pPr>
            <a:r>
              <a:rPr dirty="0"/>
              <a:t>Objective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926080"/>
            <a:ext cx="1024128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000000"/>
                </a:solidFill>
                <a:latin typeface="Aptos"/>
              </a:defRPr>
            </a:pPr>
            <a:endParaRPr lang="en-IN" dirty="0"/>
          </a:p>
          <a:p>
            <a:pPr>
              <a:defRPr sz="2000" b="0">
                <a:solidFill>
                  <a:srgbClr val="000000"/>
                </a:solidFill>
                <a:latin typeface="Aptos"/>
              </a:defRPr>
            </a:pPr>
            <a:endParaRPr lang="en-IN" dirty="0"/>
          </a:p>
          <a:p>
            <a:pPr>
              <a:defRPr sz="2000" b="0">
                <a:solidFill>
                  <a:srgbClr val="000000"/>
                </a:solidFill>
                <a:latin typeface="Aptos"/>
              </a:defRPr>
            </a:pPr>
            <a:r>
              <a:rPr dirty="0"/>
              <a:t>Send a user message → </a:t>
            </a:r>
            <a:r>
              <a:rPr dirty="0" err="1"/>
              <a:t>ChatClient</a:t>
            </a:r>
            <a:r>
              <a:rPr dirty="0"/>
              <a:t> → </a:t>
            </a:r>
            <a:r>
              <a:rPr dirty="0" err="1"/>
              <a:t>Ollama</a:t>
            </a:r>
            <a:r>
              <a:rPr dirty="0"/>
              <a:t> → return the AI response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977639"/>
            <a:ext cx="105156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666666"/>
                </a:solidFill>
                <a:latin typeface="Aptos"/>
              </a:defRPr>
            </a:pPr>
            <a:endParaRPr lang="en-IN" dirty="0"/>
          </a:p>
          <a:p>
            <a:pPr>
              <a:defRPr sz="1600" b="0">
                <a:solidFill>
                  <a:srgbClr val="666666"/>
                </a:solidFill>
                <a:latin typeface="Aptos"/>
              </a:defRPr>
            </a:pPr>
            <a:endParaRPr lang="en-IN" dirty="0"/>
          </a:p>
          <a:p>
            <a:pPr>
              <a:defRPr sz="1600" b="0">
                <a:solidFill>
                  <a:srgbClr val="666666"/>
                </a:solidFill>
                <a:latin typeface="Aptos"/>
              </a:defRPr>
            </a:pPr>
            <a:r>
              <a:rPr dirty="0"/>
              <a:t>Java 17+  •  Spring Boot  •  Spring AI  •  </a:t>
            </a:r>
            <a:r>
              <a:rPr dirty="0" err="1"/>
              <a:t>Ollama</a:t>
            </a:r>
            <a:r>
              <a:rPr dirty="0"/>
              <a:t>  •  Maven  •  IntelliJ IDEA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410CD8D-22E2-4520-E324-AD479283A602}"/>
              </a:ext>
            </a:extLst>
          </p:cNvPr>
          <p:cNvSpPr txBox="1"/>
          <p:nvPr/>
        </p:nvSpPr>
        <p:spPr>
          <a:xfrm>
            <a:off x="731520" y="2161437"/>
            <a:ext cx="842275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 err="1">
                <a:latin typeface="Aptos" panose="020B0004020202020204" pitchFamily="34" charset="0"/>
              </a:rPr>
              <a:t>Ollama</a:t>
            </a:r>
            <a:r>
              <a:rPr lang="en-US" sz="2000" b="1" dirty="0">
                <a:latin typeface="Aptos" panose="020B0004020202020204" pitchFamily="34" charset="0"/>
              </a:rPr>
              <a:t> </a:t>
            </a:r>
            <a:r>
              <a:rPr lang="en-US" sz="2000" dirty="0">
                <a:latin typeface="Aptos" panose="020B0004020202020204" pitchFamily="34" charset="0"/>
              </a:rPr>
              <a:t> : </a:t>
            </a:r>
            <a:r>
              <a:rPr lang="en-US" sz="2000" dirty="0" err="1">
                <a:latin typeface="Aptos" panose="020B0004020202020204" pitchFamily="34" charset="0"/>
              </a:rPr>
              <a:t>Ollama</a:t>
            </a:r>
            <a:r>
              <a:rPr lang="en-US" sz="2000" dirty="0">
                <a:latin typeface="Aptos" panose="020B0004020202020204" pitchFamily="34" charset="0"/>
              </a:rPr>
              <a:t> is a tool that lets you run and manage open-source LLMs locally on your own machine.</a:t>
            </a:r>
            <a:endParaRPr lang="en-IN" sz="2000" dirty="0">
              <a:latin typeface="Aptos" panose="020B0004020202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146304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70AD47"/>
                </a:solidFill>
                <a:latin typeface="Aptos"/>
              </a:defRPr>
            </a:pPr>
            <a:r>
              <a:t>Spring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F1F1F"/>
                </a:solidFill>
                <a:latin typeface="Aptos"/>
              </a:defRPr>
            </a:pPr>
            <a:r>
              <a:t>Create the Spring Boot Project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98448"/>
            <a:ext cx="11155680" cy="13716"/>
          </a:xfrm>
          <a:prstGeom prst="rect">
            <a:avLst/>
          </a:prstGeom>
          <a:solidFill>
            <a:srgbClr val="D9E2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109960" y="6419088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777777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600200"/>
            <a:ext cx="10744200" cy="4526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800">
                <a:solidFill>
                  <a:srgbClr val="242424"/>
                </a:solidFill>
                <a:latin typeface="Aptos"/>
              </a:defRPr>
            </a:pPr>
            <a:r>
              <a:t>• Go to Spring Initializr and create a Maven Spring Boot project.</a:t>
            </a:r>
          </a:p>
          <a:p>
            <a:pPr>
              <a:spcAft>
                <a:spcPts val="900"/>
              </a:spcAft>
              <a:defRPr sz="1800">
                <a:solidFill>
                  <a:srgbClr val="242424"/>
                </a:solidFill>
                <a:latin typeface="Aptos"/>
              </a:defRPr>
            </a:pPr>
            <a:r>
              <a:t>• Add Spring Web.</a:t>
            </a:r>
          </a:p>
          <a:p>
            <a:pPr>
              <a:spcAft>
                <a:spcPts val="900"/>
              </a:spcAft>
              <a:defRPr sz="1800">
                <a:solidFill>
                  <a:srgbClr val="242424"/>
                </a:solidFill>
                <a:latin typeface="Aptos"/>
              </a:defRPr>
            </a:pPr>
            <a:r>
              <a:t>• Add Spring AI Ollama Spring Boot Starter.</a:t>
            </a:r>
          </a:p>
          <a:p>
            <a:pPr>
              <a:spcAft>
                <a:spcPts val="900"/>
              </a:spcAft>
              <a:defRPr sz="1800">
                <a:solidFill>
                  <a:srgbClr val="242424"/>
                </a:solidFill>
                <a:latin typeface="Aptos"/>
              </a:defRPr>
            </a:pPr>
            <a:r>
              <a:t>• Use a Spring AI version compatible with your Spring Boot version.</a:t>
            </a:r>
          </a:p>
          <a:p>
            <a:pPr>
              <a:spcAft>
                <a:spcPts val="900"/>
              </a:spcAft>
              <a:defRPr sz="1800">
                <a:solidFill>
                  <a:srgbClr val="242424"/>
                </a:solidFill>
                <a:latin typeface="Aptos"/>
              </a:defRPr>
            </a:pPr>
            <a:r>
              <a:t>• Create the main application class and start it once to verify the setup.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146304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70AD47"/>
                </a:solidFill>
                <a:latin typeface="Aptos"/>
              </a:defRPr>
            </a:pPr>
            <a:r>
              <a:t>Spring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F1F1F"/>
                </a:solidFill>
                <a:latin typeface="Aptos"/>
              </a:defRPr>
            </a:pPr>
            <a:r>
              <a:t>Configure Ollama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98448"/>
            <a:ext cx="11155680" cy="13716"/>
          </a:xfrm>
          <a:prstGeom prst="rect">
            <a:avLst/>
          </a:prstGeom>
          <a:solidFill>
            <a:srgbClr val="D9E2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109960" y="6419088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777777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6002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00000"/>
                </a:solidFill>
                <a:latin typeface="Aptos"/>
              </a:defRPr>
            </a:pPr>
            <a:r>
              <a:t>Set the API key as an environment variable: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57400"/>
            <a:ext cx="9875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333333"/>
                </a:solidFill>
                <a:latin typeface="Consolas"/>
              </a:defRPr>
            </a:pPr>
            <a:r>
              <a:t>No API key required for local Ollama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7889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70AD47"/>
                </a:solidFill>
                <a:latin typeface="Aptos"/>
              </a:defRPr>
            </a:pPr>
            <a:r>
              <a:t>application.properties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246120"/>
            <a:ext cx="10058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000000"/>
                </a:solidFill>
                <a:latin typeface="Consolas"/>
              </a:defRPr>
            </a:pPr>
            <a:r>
              <a:rPr dirty="0" err="1"/>
              <a:t>spring.ai.ollama.base-url</a:t>
            </a:r>
            <a:r>
              <a:rPr dirty="0"/>
              <a:t>=http://localhost:11434</a:t>
            </a:r>
            <a:br>
              <a:rPr dirty="0"/>
            </a:br>
            <a:r>
              <a:rPr dirty="0" err="1"/>
              <a:t>spring.ai.ollama.chat.options.model</a:t>
            </a:r>
            <a:r>
              <a:rPr dirty="0"/>
              <a:t>=llama3.2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66344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666666"/>
                </a:solidFill>
                <a:latin typeface="Aptos"/>
              </a:defRPr>
            </a:pPr>
            <a:r>
              <a:t>Make sure Ollama is running locally and the selected model is available.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146304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70AD47"/>
                </a:solidFill>
                <a:latin typeface="Aptos"/>
              </a:defRPr>
            </a:pPr>
            <a:r>
              <a:t>Spring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F1F1F"/>
                </a:solidFill>
                <a:latin typeface="Aptos"/>
              </a:defRPr>
            </a:pPr>
            <a:r>
              <a:t>Create the Chat API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98448"/>
            <a:ext cx="11155680" cy="13716"/>
          </a:xfrm>
          <a:prstGeom prst="rect">
            <a:avLst/>
          </a:prstGeom>
          <a:solidFill>
            <a:srgbClr val="D9E2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109960" y="6419088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777777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6002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70AD47"/>
                </a:solidFill>
                <a:latin typeface="Aptos"/>
              </a:defRPr>
            </a:pPr>
            <a:r>
              <a:t>ChatClient setup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965960"/>
            <a:ext cx="1005840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000000"/>
                </a:solidFill>
                <a:latin typeface="Consolas"/>
              </a:defRPr>
            </a:pPr>
            <a:r>
              <a:t>private final ChatClient chatClient;</a:t>
            </a:r>
            <a:br/>
            <a:br/>
            <a:r>
              <a:t>public ChatController(ChatClient.Builder builder) {</a:t>
            </a:r>
            <a:br/>
            <a:r>
              <a:t>    this.chatClient = builder.build();</a:t>
            </a:r>
            <a:br/>
            <a:r>
              <a:t>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7033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70AD47"/>
                </a:solidFill>
                <a:latin typeface="Aptos"/>
              </a:defRPr>
            </a:pPr>
            <a:r>
              <a:t>REST endpoint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4069080"/>
            <a:ext cx="100584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000000"/>
                </a:solidFill>
                <a:latin typeface="Consolas"/>
              </a:defRPr>
            </a:pPr>
            <a:r>
              <a:t>@GetMapping("/chat")</a:t>
            </a:r>
            <a:br/>
            <a:r>
              <a:t>public String chat(@RequestParam String message) {</a:t>
            </a:r>
            <a:br/>
            <a:r>
              <a:t>    return chatClient.prompt()</a:t>
            </a:r>
            <a:br/>
            <a:r>
              <a:t>        .user(message).call().content();</a:t>
            </a:r>
            <a:br/>
            <a:r>
              <a:t>}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146304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70AD47"/>
                </a:solidFill>
                <a:latin typeface="Aptos"/>
              </a:defRPr>
            </a:pPr>
            <a:r>
              <a:t>Spring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F1F1F"/>
                </a:solidFill>
                <a:latin typeface="Aptos"/>
              </a:defRPr>
            </a:pPr>
            <a:r>
              <a:t>Test the Application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98448"/>
            <a:ext cx="11155680" cy="13716"/>
          </a:xfrm>
          <a:prstGeom prst="rect">
            <a:avLst/>
          </a:prstGeom>
          <a:solidFill>
            <a:srgbClr val="D9E2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109960" y="6419088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777777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70AD47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1709928"/>
            <a:ext cx="9601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000000"/>
                </a:solidFill>
                <a:latin typeface="Aptos"/>
              </a:defRPr>
            </a:pPr>
            <a:r>
              <a:t>Start the Spring Boot application.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5146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70AD47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2532888"/>
            <a:ext cx="9601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000000"/>
                </a:solidFill>
                <a:latin typeface="Aptos"/>
              </a:defRPr>
            </a:pPr>
            <a:r>
              <a:t>Call the endpoint from a browser, Postman, or curl: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5880" y="3063240"/>
            <a:ext cx="9875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000000"/>
                </a:solidFill>
                <a:latin typeface="Consolas"/>
              </a:defRPr>
            </a:pPr>
            <a:r>
              <a:t>GET http://localhost:8080/chat?message=What%20is%20Spring%20AI?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8862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70AD47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25880" y="3904487"/>
            <a:ext cx="9692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000000"/>
                </a:solidFill>
                <a:latin typeface="Aptos"/>
              </a:defRPr>
            </a:pPr>
            <a:r>
              <a:t>ChatClient sends the message to Ollama and the generated answer is returned as the HTTP response.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146304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70AD47"/>
                </a:solidFill>
                <a:latin typeface="Aptos"/>
              </a:defRPr>
            </a:pPr>
            <a:r>
              <a:t>Spring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F1F1F"/>
                </a:solidFill>
                <a:latin typeface="Aptos"/>
              </a:defRPr>
            </a:pPr>
            <a:r>
              <a:t>What Is Happening Behind the Scenes?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98448"/>
            <a:ext cx="11155680" cy="13716"/>
          </a:xfrm>
          <a:prstGeom prst="rect">
            <a:avLst/>
          </a:prstGeom>
          <a:solidFill>
            <a:srgbClr val="D9E2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109960" y="6419088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777777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600200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70AD47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1600200"/>
            <a:ext cx="9784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000000"/>
                </a:solidFill>
                <a:latin typeface="Aptos"/>
              </a:defRPr>
            </a:pPr>
            <a:r>
              <a:t>User sends a question to /chat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258568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70AD47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2258568"/>
            <a:ext cx="9784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000000"/>
                </a:solidFill>
                <a:latin typeface="Aptos"/>
              </a:defRPr>
            </a:pPr>
            <a:r>
              <a:t>Spring MVC receives the HTTP request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916935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70AD47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2916935"/>
            <a:ext cx="9784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000000"/>
                </a:solidFill>
                <a:latin typeface="Aptos"/>
              </a:defRPr>
            </a:pPr>
            <a:r>
              <a:t>ChatClient creates the prompt and calls the configured ChatModel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575303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70AD47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3575303"/>
            <a:ext cx="9784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000000"/>
                </a:solidFill>
                <a:latin typeface="Aptos"/>
              </a:defRPr>
            </a:pPr>
            <a:r>
              <a:t>Spring AI's Ollama integration sends the request to Ollama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233671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70AD47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4233671"/>
            <a:ext cx="9784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000000"/>
                </a:solidFill>
                <a:latin typeface="Aptos"/>
              </a:defRPr>
            </a:pPr>
            <a:r>
              <a:t>Ollama returns the generated response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892039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70AD47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25880" y="4892039"/>
            <a:ext cx="9784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000000"/>
                </a:solidFill>
                <a:latin typeface="Aptos"/>
              </a:defRPr>
            </a:pPr>
            <a:r>
              <a:t>ChatClient extracts the response content and returns it to the user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57150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555555"/>
                </a:solidFill>
                <a:latin typeface="Aptos"/>
              </a:defRPr>
            </a:pPr>
            <a:r>
              <a:t>Key idea: ChatClient provides a simple API for interacting with chat models.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146304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70AD47"/>
                </a:solidFill>
                <a:latin typeface="Aptos"/>
              </a:defRPr>
            </a:pPr>
            <a:r>
              <a:t>Spring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F1F1F"/>
                </a:solidFill>
                <a:latin typeface="Aptos"/>
              </a:defRPr>
            </a:pPr>
            <a:r>
              <a:t>Complete Minimal Application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98448"/>
            <a:ext cx="11155680" cy="13716"/>
          </a:xfrm>
          <a:prstGeom prst="rect">
            <a:avLst/>
          </a:prstGeom>
          <a:solidFill>
            <a:srgbClr val="D9E2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109960" y="6419088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777777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53619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70AD47"/>
                </a:solidFill>
                <a:latin typeface="Aptos"/>
              </a:defRPr>
            </a:pPr>
            <a:r>
              <a:t>application.properties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874519"/>
            <a:ext cx="1051560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000000"/>
                </a:solidFill>
                <a:latin typeface="Consolas"/>
              </a:defRPr>
            </a:pPr>
            <a:r>
              <a:rPr dirty="0" err="1"/>
              <a:t>spring.ai.ollama.base-url</a:t>
            </a:r>
            <a:r>
              <a:rPr dirty="0"/>
              <a:t>=http://localhost:11434</a:t>
            </a:r>
            <a:endParaRPr lang="en-IN" dirty="0"/>
          </a:p>
          <a:p>
            <a:pPr>
              <a:defRPr sz="1400" b="0">
                <a:solidFill>
                  <a:srgbClr val="000000"/>
                </a:solidFill>
                <a:latin typeface="Consolas"/>
              </a:defRPr>
            </a:pPr>
            <a:r>
              <a:rPr dirty="0" err="1"/>
              <a:t>spring.ai.ollama.chat.options.model</a:t>
            </a:r>
            <a:r>
              <a:rPr dirty="0"/>
              <a:t>=llama</a:t>
            </a:r>
            <a:br>
              <a:rPr dirty="0"/>
            </a:br>
            <a:endParaRPr dirty="0"/>
          </a:p>
        </p:txBody>
      </p:sp>
      <p:sp>
        <p:nvSpPr>
          <p:cNvPr id="9" name="TextBox 8"/>
          <p:cNvSpPr txBox="1"/>
          <p:nvPr/>
        </p:nvSpPr>
        <p:spPr>
          <a:xfrm>
            <a:off x="685800" y="27889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70AD47"/>
                </a:solidFill>
                <a:latin typeface="Aptos"/>
              </a:defRPr>
            </a:pPr>
            <a:r>
              <a:t>ChatController.java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127248"/>
            <a:ext cx="10515600" cy="2606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000000"/>
                </a:solidFill>
                <a:latin typeface="Consolas"/>
              </a:defRPr>
            </a:pPr>
            <a:r>
              <a:rPr dirty="0"/>
              <a:t>@RestController</a:t>
            </a:r>
            <a:br>
              <a:rPr dirty="0"/>
            </a:br>
            <a:r>
              <a:rPr dirty="0"/>
              <a:t>public class </a:t>
            </a:r>
            <a:r>
              <a:rPr dirty="0" err="1"/>
              <a:t>ChatController</a:t>
            </a:r>
            <a:r>
              <a:rPr dirty="0"/>
              <a:t> {</a:t>
            </a:r>
            <a:br>
              <a:rPr dirty="0"/>
            </a:br>
            <a:r>
              <a:rPr dirty="0"/>
              <a:t>  private final </a:t>
            </a:r>
            <a:r>
              <a:rPr dirty="0" err="1"/>
              <a:t>ChatClient</a:t>
            </a:r>
            <a:r>
              <a:rPr dirty="0"/>
              <a:t> </a:t>
            </a:r>
            <a:r>
              <a:rPr dirty="0" err="1"/>
              <a:t>chatClient</a:t>
            </a:r>
            <a:r>
              <a:rPr dirty="0"/>
              <a:t>;</a:t>
            </a:r>
            <a:br>
              <a:rPr dirty="0"/>
            </a:br>
            <a:r>
              <a:rPr dirty="0"/>
              <a:t>  public </a:t>
            </a:r>
            <a:r>
              <a:rPr dirty="0" err="1"/>
              <a:t>ChatController</a:t>
            </a:r>
            <a:r>
              <a:rPr dirty="0"/>
              <a:t>(</a:t>
            </a:r>
            <a:r>
              <a:rPr dirty="0" err="1"/>
              <a:t>ChatClient.Builder</a:t>
            </a:r>
            <a:r>
              <a:rPr dirty="0"/>
              <a:t> builder) {</a:t>
            </a:r>
            <a:br>
              <a:rPr dirty="0"/>
            </a:br>
            <a:r>
              <a:rPr dirty="0"/>
              <a:t>    </a:t>
            </a:r>
            <a:r>
              <a:rPr dirty="0" err="1"/>
              <a:t>this.chatClient</a:t>
            </a:r>
            <a:r>
              <a:rPr dirty="0"/>
              <a:t> = </a:t>
            </a:r>
            <a:r>
              <a:rPr dirty="0" err="1"/>
              <a:t>builder.build</a:t>
            </a:r>
            <a:r>
              <a:rPr dirty="0"/>
              <a:t>();</a:t>
            </a:r>
            <a:br>
              <a:rPr dirty="0"/>
            </a:br>
            <a:r>
              <a:rPr dirty="0"/>
              <a:t>  }</a:t>
            </a:r>
            <a:br>
              <a:rPr dirty="0"/>
            </a:br>
            <a:r>
              <a:rPr dirty="0"/>
              <a:t>  @GetMapping("/chat")</a:t>
            </a:r>
            <a:br>
              <a:rPr dirty="0"/>
            </a:br>
            <a:r>
              <a:rPr dirty="0"/>
              <a:t>  public String chat(@RequestParam String message) {</a:t>
            </a:r>
            <a:br>
              <a:rPr dirty="0"/>
            </a:br>
            <a:r>
              <a:rPr dirty="0"/>
              <a:t>    return </a:t>
            </a:r>
            <a:r>
              <a:rPr dirty="0" err="1"/>
              <a:t>chatClient.prompt</a:t>
            </a:r>
            <a:r>
              <a:rPr dirty="0"/>
              <a:t>().user(message).call().content();</a:t>
            </a:r>
            <a:br>
              <a:rPr dirty="0"/>
            </a:br>
            <a:r>
              <a:rPr dirty="0"/>
              <a:t>  }</a:t>
            </a:r>
            <a:br>
              <a:rPr dirty="0"/>
            </a:br>
            <a:r>
              <a:rPr dirty="0"/>
              <a:t>}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146304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70AD47"/>
                </a:solidFill>
                <a:latin typeface="Aptos"/>
              </a:defRPr>
            </a:pPr>
            <a:r>
              <a:t>Spring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F1F1F"/>
                </a:solidFill>
                <a:latin typeface="Aptos"/>
              </a:defRPr>
            </a:pPr>
            <a:r>
              <a:t>Next: Build on This Application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98448"/>
            <a:ext cx="11155680" cy="13716"/>
          </a:xfrm>
          <a:prstGeom prst="rect">
            <a:avLst/>
          </a:prstGeom>
          <a:solidFill>
            <a:srgbClr val="D9E2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109960" y="6419088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777777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600200"/>
            <a:ext cx="10744200" cy="23314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800">
                <a:solidFill>
                  <a:srgbClr val="242424"/>
                </a:solidFill>
                <a:latin typeface="Aptos"/>
              </a:defRPr>
            </a:pPr>
            <a:r>
              <a:rPr lang="en-IN" dirty="0"/>
              <a:t>• Explore </a:t>
            </a:r>
            <a:r>
              <a:rPr lang="en-IN" dirty="0" err="1"/>
              <a:t>ChatClient</a:t>
            </a:r>
            <a:r>
              <a:rPr lang="en-IN" dirty="0"/>
              <a:t> APIs and prompt templates. </a:t>
            </a:r>
          </a:p>
          <a:p>
            <a:pPr>
              <a:spcAft>
                <a:spcPts val="900"/>
              </a:spcAft>
              <a:defRPr sz="1800">
                <a:solidFill>
                  <a:srgbClr val="242424"/>
                </a:solidFill>
                <a:latin typeface="Aptos"/>
              </a:defRPr>
            </a:pPr>
            <a:r>
              <a:rPr dirty="0"/>
              <a:t>• Add system instructions to control assistant behavior.</a:t>
            </a:r>
          </a:p>
          <a:p>
            <a:pPr>
              <a:spcAft>
                <a:spcPts val="900"/>
              </a:spcAft>
              <a:defRPr sz="1800">
                <a:solidFill>
                  <a:srgbClr val="242424"/>
                </a:solidFill>
                <a:latin typeface="Aptos"/>
              </a:defRPr>
            </a:pPr>
            <a:r>
              <a:rPr dirty="0"/>
              <a:t>• Use POST requests with request/response DTOs.</a:t>
            </a:r>
          </a:p>
          <a:p>
            <a:pPr>
              <a:spcAft>
                <a:spcPts val="900"/>
              </a:spcAft>
              <a:defRPr sz="1800">
                <a:solidFill>
                  <a:srgbClr val="242424"/>
                </a:solidFill>
                <a:latin typeface="Aptos"/>
              </a:defRPr>
            </a:pPr>
            <a:r>
              <a:rPr dirty="0"/>
              <a:t>• Add chat memory for conversations.</a:t>
            </a:r>
          </a:p>
          <a:p>
            <a:pPr>
              <a:spcAft>
                <a:spcPts val="900"/>
              </a:spcAft>
              <a:defRPr sz="1800">
                <a:solidFill>
                  <a:srgbClr val="242424"/>
                </a:solidFill>
                <a:latin typeface="Aptos"/>
              </a:defRPr>
            </a:pPr>
            <a:r>
              <a:rPr dirty="0"/>
              <a:t>• Move to structured output, tool calling, embeddings and RAG.</a:t>
            </a:r>
          </a:p>
          <a:p>
            <a:pPr>
              <a:spcAft>
                <a:spcPts val="900"/>
              </a:spcAft>
              <a:defRPr sz="1800">
                <a:solidFill>
                  <a:srgbClr val="242424"/>
                </a:solidFill>
                <a:latin typeface="Aptos"/>
              </a:defRPr>
            </a:pPr>
            <a:r>
              <a:rPr dirty="0"/>
              <a:t>• Use this application as the starting point for more advanced Spring AI applications.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CDCE0"/>
      </a:lt2>
      <a:accent1>
        <a:srgbClr val="415588"/>
      </a:accent1>
      <a:accent2>
        <a:srgbClr val="4294B6"/>
      </a:accent2>
      <a:accent3>
        <a:srgbClr val="087D7C"/>
      </a:accent3>
      <a:accent4>
        <a:srgbClr val="2CB663"/>
      </a:accent4>
      <a:accent5>
        <a:srgbClr val="DF8822"/>
      </a:accent5>
      <a:accent6>
        <a:srgbClr val="BC410A"/>
      </a:accent6>
      <a:hlink>
        <a:srgbClr val="5977C4"/>
      </a:hlink>
      <a:folHlink>
        <a:srgbClr val="A1A9BF"/>
      </a:folHlink>
    </a:clrScheme>
    <a:fontScheme name="Gallery">
      <a:majorFont>
        <a:latin typeface="Century Gothic" panose="020B0502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  <a:lumMod val="108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E050AC27-895F-4B90-991D-A6818FC89AB6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61</TotalTime>
  <Words>598</Words>
  <Application>Microsoft Office PowerPoint</Application>
  <PresentationFormat>Widescreen</PresentationFormat>
  <Paragraphs>81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Arial</vt:lpstr>
      <vt:lpstr>Century Gothic</vt:lpstr>
      <vt:lpstr>Gallery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Ravinder Kumar</cp:lastModifiedBy>
  <cp:revision>6</cp:revision>
  <dcterms:created xsi:type="dcterms:W3CDTF">2013-01-27T09:14:16Z</dcterms:created>
  <dcterms:modified xsi:type="dcterms:W3CDTF">2026-08-09T10:38:49Z</dcterms:modified>
  <cp:category/>
</cp:coreProperties>
</file>